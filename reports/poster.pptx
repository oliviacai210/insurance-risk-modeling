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icGhhpV/osgo9HYB8aKbfiRraw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365760" y="2743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31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C8531C"/>
                </a:solidFill>
                <a:latin typeface="Consolas"/>
                <a:ea typeface="Consolas"/>
                <a:cs typeface="Consolas"/>
                <a:sym typeface="Consolas"/>
              </a:rPr>
              <a:t>DSO 530   ·   GROUP PROJECT 2026   ·   CASE COMPETITION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337810" y="397841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Pricing Risk in a </a:t>
            </a:r>
            <a:r>
              <a:rPr b="0" i="1" lang="en-US" sz="2600" u="none" cap="none" strike="noStrike">
                <a:solidFill>
                  <a:srgbClr val="C8531C"/>
                </a:solidFill>
                <a:latin typeface="Georgia"/>
                <a:ea typeface="Georgia"/>
                <a:cs typeface="Georgia"/>
                <a:sym typeface="Georgia"/>
              </a:rPr>
              <a:t>Zero-Inflated</a:t>
            </a:r>
            <a:r>
              <a:rPr b="0" i="0" lang="en-US" sz="2600" u="none" cap="none" strike="noStrike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 World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85628" y="859537"/>
            <a:ext cx="5745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4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A Tweedie-aware ML pipeline for predicting auto-insurance claim frequency, loss cost, and historically-adjusted loss cost</a:t>
            </a:r>
            <a:r>
              <a:rPr i="1" lang="en-US" sz="110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100" u="none" cap="none" strike="noStrike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engineered for fairer premiums.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0454334" y="54462"/>
            <a:ext cx="1679400" cy="402600"/>
          </a:xfrm>
          <a:prstGeom prst="rect">
            <a:avLst/>
          </a:prstGeom>
          <a:solidFill>
            <a:srgbClr val="0E1B2C"/>
          </a:solidFill>
          <a:ln cap="flat" cmpd="sng" w="12700">
            <a:solidFill>
              <a:srgbClr val="0E1B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10574460" y="95415"/>
            <a:ext cx="1456719" cy="347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5F1E8"/>
                </a:solidFill>
                <a:latin typeface="Consolas"/>
                <a:ea typeface="Consolas"/>
                <a:cs typeface="Consolas"/>
                <a:sym typeface="Consolas"/>
              </a:rPr>
              <a:t>USC MARSHALL · DSO 530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836944" y="172067"/>
            <a:ext cx="233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D42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1F2D42"/>
                </a:solidFill>
                <a:latin typeface="Consolas"/>
                <a:ea typeface="Consolas"/>
                <a:cs typeface="Consolas"/>
                <a:sym typeface="Consolas"/>
              </a:rPr>
              <a:t>Group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836960" y="428821"/>
            <a:ext cx="233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D42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1F2D42"/>
                </a:solidFill>
                <a:latin typeface="Consolas"/>
                <a:ea typeface="Consolas"/>
                <a:cs typeface="Consolas"/>
                <a:sym typeface="Consolas"/>
              </a:rPr>
              <a:t>Naivedhya Shah</a:t>
            </a:r>
            <a:r>
              <a:rPr lang="en-US" sz="850">
                <a:solidFill>
                  <a:srgbClr val="1F2D42"/>
                </a:solidFill>
                <a:latin typeface="Consolas"/>
                <a:ea typeface="Consolas"/>
                <a:cs typeface="Consolas"/>
                <a:sym typeface="Consolas"/>
              </a:rPr>
              <a:t> · </a:t>
            </a:r>
            <a:r>
              <a:rPr lang="en-US" sz="850">
                <a:solidFill>
                  <a:srgbClr val="1F2D42"/>
                </a:solidFill>
                <a:latin typeface="Consolas"/>
                <a:ea typeface="Consolas"/>
                <a:cs typeface="Consolas"/>
                <a:sym typeface="Consolas"/>
              </a:rPr>
              <a:t>Xinze Chi</a:t>
            </a:r>
            <a:r>
              <a:rPr lang="en-US" sz="850">
                <a:solidFill>
                  <a:srgbClr val="1F2D42"/>
                </a:solidFill>
                <a:latin typeface="Consolas"/>
                <a:ea typeface="Consolas"/>
                <a:cs typeface="Consolas"/>
                <a:sym typeface="Consolas"/>
              </a:rPr>
              <a:t> · Junshu Xin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956150" y="653100"/>
            <a:ext cx="3212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D42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1F2D42"/>
                </a:solidFill>
                <a:latin typeface="Consolas"/>
                <a:ea typeface="Consolas"/>
                <a:cs typeface="Consolas"/>
                <a:sym typeface="Consolas"/>
              </a:rPr>
              <a:t>Shravya </a:t>
            </a:r>
            <a:r>
              <a:rPr lang="en-US" sz="850">
                <a:solidFill>
                  <a:srgbClr val="1F2D42"/>
                </a:solidFill>
                <a:latin typeface="Consolas"/>
                <a:ea typeface="Consolas"/>
                <a:cs typeface="Consolas"/>
                <a:sym typeface="Consolas"/>
              </a:rPr>
              <a:t>Addanki</a:t>
            </a:r>
            <a:r>
              <a:rPr lang="en-US" sz="850">
                <a:solidFill>
                  <a:srgbClr val="1F2D42"/>
                </a:solidFill>
                <a:latin typeface="Consolas"/>
                <a:ea typeface="Consolas"/>
                <a:cs typeface="Consolas"/>
                <a:sym typeface="Consolas"/>
              </a:rPr>
              <a:t> · Olivia Cai </a:t>
            </a:r>
            <a:r>
              <a:rPr lang="en-US" sz="850">
                <a:solidFill>
                  <a:srgbClr val="1F2D42"/>
                </a:solidFill>
                <a:latin typeface="Consolas"/>
                <a:ea typeface="Consolas"/>
                <a:cs typeface="Consolas"/>
                <a:sym typeface="Consolas"/>
              </a:rPr>
              <a:t> · </a:t>
            </a:r>
            <a:r>
              <a:rPr lang="en-US" sz="850">
                <a:solidFill>
                  <a:srgbClr val="1F2D42"/>
                </a:solidFill>
                <a:latin typeface="Consolas"/>
                <a:ea typeface="Consolas"/>
                <a:cs typeface="Consolas"/>
                <a:sym typeface="Consolas"/>
              </a:rPr>
              <a:t>Huanxuan </a:t>
            </a:r>
            <a:r>
              <a:rPr lang="en-US" sz="850">
                <a:solidFill>
                  <a:srgbClr val="1F2D42"/>
                </a:solidFill>
                <a:latin typeface="Consolas"/>
                <a:ea typeface="Consolas"/>
                <a:cs typeface="Consolas"/>
                <a:sym typeface="Consolas"/>
              </a:rPr>
              <a:t>Tang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365760" y="1188720"/>
            <a:ext cx="11460175" cy="0"/>
          </a:xfrm>
          <a:prstGeom prst="straightConnector1">
            <a:avLst/>
          </a:prstGeom>
          <a:noFill/>
          <a:ln cap="flat" cmpd="sng" w="15875">
            <a:solidFill>
              <a:srgbClr val="0E1B2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1"/>
          <p:cNvCxnSpPr/>
          <p:nvPr/>
        </p:nvCxnSpPr>
        <p:spPr>
          <a:xfrm>
            <a:off x="365760" y="1280160"/>
            <a:ext cx="11460175" cy="0"/>
          </a:xfrm>
          <a:prstGeom prst="straightConnector1">
            <a:avLst/>
          </a:prstGeom>
          <a:noFill/>
          <a:ln cap="flat" cmpd="sng" w="9525">
            <a:solidFill>
              <a:srgbClr val="2A385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365760" y="1609344"/>
            <a:ext cx="11460175" cy="0"/>
          </a:xfrm>
          <a:prstGeom prst="straightConnector1">
            <a:avLst/>
          </a:prstGeom>
          <a:noFill/>
          <a:ln cap="flat" cmpd="sng" w="9525">
            <a:solidFill>
              <a:srgbClr val="2A38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457200" y="1298448"/>
            <a:ext cx="2109155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891"/>
              </a:buClr>
              <a:buSzPts val="600"/>
              <a:buFont typeface="Consolas"/>
              <a:buNone/>
            </a:pPr>
            <a:r>
              <a:rPr lang="en-US" sz="800">
                <a:solidFill>
                  <a:srgbClr val="6B7891"/>
                </a:solidFill>
                <a:latin typeface="Consolas"/>
                <a:ea typeface="Consolas"/>
                <a:cs typeface="Consolas"/>
                <a:sym typeface="Consolas"/>
              </a:rPr>
              <a:t>TRAINING SET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1399032"/>
            <a:ext cx="949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1400"/>
              <a:buFont typeface="Georgia"/>
              <a:buNone/>
            </a:pPr>
            <a:r>
              <a:rPr lang="en-US" sz="14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39,928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406320" y="1426464"/>
            <a:ext cx="116003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42"/>
              </a:buClr>
              <a:buSzPts val="650"/>
              <a:buFont typeface="Calibri"/>
              <a:buNone/>
            </a:pPr>
            <a:r>
              <a:rPr i="1" lang="en-US" sz="85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policy-year transactions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1"/>
          <p:cNvCxnSpPr/>
          <p:nvPr/>
        </p:nvCxnSpPr>
        <p:spPr>
          <a:xfrm>
            <a:off x="2657795" y="1316736"/>
            <a:ext cx="0" cy="256032"/>
          </a:xfrm>
          <a:prstGeom prst="straightConnector1">
            <a:avLst/>
          </a:prstGeom>
          <a:noFill/>
          <a:ln cap="flat" cmpd="sng" w="9525">
            <a:solidFill>
              <a:srgbClr val="B7B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1"/>
          <p:cNvSpPr/>
          <p:nvPr/>
        </p:nvSpPr>
        <p:spPr>
          <a:xfrm>
            <a:off x="2749235" y="1298448"/>
            <a:ext cx="2109155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891"/>
              </a:buClr>
              <a:buSzPts val="600"/>
              <a:buFont typeface="Consolas"/>
              <a:buNone/>
            </a:pPr>
            <a:r>
              <a:rPr lang="en-US" sz="800">
                <a:solidFill>
                  <a:srgbClr val="6B7891"/>
                </a:solidFill>
                <a:latin typeface="Consolas"/>
                <a:ea typeface="Consolas"/>
                <a:cs typeface="Consolas"/>
                <a:sym typeface="Consolas"/>
              </a:rPr>
              <a:t>OUT-OF-SAMPLE TEST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749235" y="1399032"/>
            <a:ext cx="949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1400"/>
              <a:buFont typeface="Georgia"/>
              <a:buNone/>
            </a:pPr>
            <a:r>
              <a:rPr lang="en-US" sz="14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13,310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698355" y="1426464"/>
            <a:ext cx="116003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42"/>
              </a:buClr>
              <a:buSzPts val="650"/>
              <a:buFont typeface="Calibri"/>
              <a:buNone/>
            </a:pPr>
            <a:r>
              <a:rPr i="1" lang="en-US" sz="85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held-out policies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1"/>
          <p:cNvCxnSpPr/>
          <p:nvPr/>
        </p:nvCxnSpPr>
        <p:spPr>
          <a:xfrm>
            <a:off x="4949830" y="1316736"/>
            <a:ext cx="0" cy="256032"/>
          </a:xfrm>
          <a:prstGeom prst="straightConnector1">
            <a:avLst/>
          </a:prstGeom>
          <a:noFill/>
          <a:ln cap="flat" cmpd="sng" w="9525">
            <a:solidFill>
              <a:srgbClr val="B7B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"/>
          <p:cNvSpPr/>
          <p:nvPr/>
        </p:nvSpPr>
        <p:spPr>
          <a:xfrm>
            <a:off x="5041270" y="1298448"/>
            <a:ext cx="2109155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891"/>
              </a:buClr>
              <a:buSzPts val="600"/>
              <a:buFont typeface="Consolas"/>
              <a:buNone/>
            </a:pPr>
            <a:r>
              <a:rPr lang="en-US" sz="800">
                <a:solidFill>
                  <a:srgbClr val="6B7891"/>
                </a:solidFill>
                <a:latin typeface="Consolas"/>
                <a:ea typeface="Consolas"/>
                <a:cs typeface="Consolas"/>
                <a:sym typeface="Consolas"/>
              </a:rPr>
              <a:t>CLASS IMBALANCE · CS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041270" y="1399032"/>
            <a:ext cx="949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1400"/>
              <a:buFont typeface="Georgia"/>
              <a:buNone/>
            </a:pPr>
            <a:r>
              <a:rPr lang="en-US" sz="14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11.2</a:t>
            </a:r>
            <a:r>
              <a:rPr i="1" lang="en-US" sz="900">
                <a:solidFill>
                  <a:srgbClr val="C8531C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668550" y="1426474"/>
            <a:ext cx="1482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42"/>
              </a:buClr>
              <a:buSzPts val="650"/>
              <a:buFont typeface="Calibri"/>
              <a:buNone/>
            </a:pPr>
            <a:r>
              <a:rPr i="1" lang="en-US" sz="85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positives → ranker not classifier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1"/>
          <p:cNvCxnSpPr/>
          <p:nvPr/>
        </p:nvCxnSpPr>
        <p:spPr>
          <a:xfrm>
            <a:off x="7241865" y="1316736"/>
            <a:ext cx="0" cy="256032"/>
          </a:xfrm>
          <a:prstGeom prst="straightConnector1">
            <a:avLst/>
          </a:prstGeom>
          <a:noFill/>
          <a:ln cap="flat" cmpd="sng" w="9525">
            <a:solidFill>
              <a:srgbClr val="B7B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"/>
          <p:cNvSpPr/>
          <p:nvPr/>
        </p:nvSpPr>
        <p:spPr>
          <a:xfrm>
            <a:off x="7333305" y="1298448"/>
            <a:ext cx="2109155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891"/>
              </a:buClr>
              <a:buSzPts val="600"/>
              <a:buFont typeface="Consolas"/>
              <a:buNone/>
            </a:pPr>
            <a:r>
              <a:rPr lang="en-US" sz="800">
                <a:solidFill>
                  <a:srgbClr val="6B7891"/>
                </a:solidFill>
                <a:latin typeface="Consolas"/>
                <a:ea typeface="Consolas"/>
                <a:cs typeface="Consolas"/>
                <a:sym typeface="Consolas"/>
              </a:rPr>
              <a:t>ZERO-INFLATION · LC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333305" y="1399032"/>
            <a:ext cx="949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1400"/>
              <a:buFont typeface="Georgia"/>
              <a:buNone/>
            </a:pPr>
            <a:r>
              <a:rPr lang="en-US" sz="14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88.8</a:t>
            </a:r>
            <a:r>
              <a:rPr i="1" lang="en-US" sz="900">
                <a:solidFill>
                  <a:srgbClr val="C8531C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8129824" y="1426475"/>
            <a:ext cx="1312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42"/>
              </a:buClr>
              <a:buSzPts val="650"/>
              <a:buFont typeface="Calibri"/>
              <a:buNone/>
            </a:pPr>
            <a:r>
              <a:rPr i="1" lang="en-US" sz="85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zeros → Tweedie territory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1"/>
          <p:cNvCxnSpPr/>
          <p:nvPr/>
        </p:nvCxnSpPr>
        <p:spPr>
          <a:xfrm>
            <a:off x="9533900" y="1316736"/>
            <a:ext cx="0" cy="256032"/>
          </a:xfrm>
          <a:prstGeom prst="straightConnector1">
            <a:avLst/>
          </a:prstGeom>
          <a:noFill/>
          <a:ln cap="flat" cmpd="sng" w="9525">
            <a:solidFill>
              <a:srgbClr val="B7B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1"/>
          <p:cNvSpPr/>
          <p:nvPr/>
        </p:nvSpPr>
        <p:spPr>
          <a:xfrm>
            <a:off x="9625340" y="1298448"/>
            <a:ext cx="2109155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891"/>
              </a:buClr>
              <a:buSzPts val="600"/>
              <a:buFont typeface="Consolas"/>
              <a:buNone/>
            </a:pPr>
            <a:r>
              <a:rPr lang="en-US" sz="800">
                <a:solidFill>
                  <a:srgbClr val="6B7891"/>
                </a:solidFill>
                <a:latin typeface="Consolas"/>
                <a:ea typeface="Consolas"/>
                <a:cs typeface="Consolas"/>
                <a:sym typeface="Consolas"/>
              </a:rPr>
              <a:t>MODELING </a:t>
            </a:r>
            <a:r>
              <a:rPr lang="en-US" sz="800">
                <a:solidFill>
                  <a:srgbClr val="6B7891"/>
                </a:solidFill>
                <a:latin typeface="Consolas"/>
                <a:ea typeface="Consolas"/>
                <a:cs typeface="Consolas"/>
                <a:sym typeface="Consolas"/>
              </a:rPr>
              <a:t>FEATURES USED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9625340" y="1399032"/>
            <a:ext cx="949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1400"/>
              <a:buFont typeface="Georgia"/>
              <a:buNone/>
            </a:pPr>
            <a:r>
              <a:rPr lang="en-US" sz="14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lang="en-US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10252760" y="1426464"/>
            <a:ext cx="1160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42"/>
              </a:buClr>
              <a:buSzPts val="650"/>
              <a:buFont typeface="Calibri"/>
              <a:buNone/>
            </a:pPr>
            <a:r>
              <a:rPr i="1" lang="en-US" sz="85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after removing X.15–X.18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365760" y="1719072"/>
            <a:ext cx="3746906" cy="2263140"/>
          </a:xfrm>
          <a:prstGeom prst="rect">
            <a:avLst/>
          </a:prstGeom>
          <a:solidFill>
            <a:srgbClr val="0E1B2C"/>
          </a:solidFill>
          <a:ln cap="flat" cmpd="sng" w="9525">
            <a:solidFill>
              <a:srgbClr val="0E1B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493776" y="1810512"/>
            <a:ext cx="349087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31C"/>
              </a:buClr>
              <a:buSzPts val="650"/>
              <a:buFont typeface="Consolas"/>
              <a:buNone/>
            </a:pPr>
            <a:r>
              <a:rPr lang="en-US" sz="650">
                <a:solidFill>
                  <a:srgbClr val="C8531C"/>
                </a:solidFill>
                <a:latin typeface="Consolas"/>
                <a:ea typeface="Consolas"/>
                <a:cs typeface="Consolas"/>
                <a:sym typeface="Consolas"/>
              </a:rPr>
              <a:t>01 / PROBLEM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1458956" y="1744219"/>
            <a:ext cx="349087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1100"/>
              <a:buFont typeface="Georgia"/>
              <a:buNone/>
            </a:pPr>
            <a:r>
              <a:rPr lang="en-US" sz="11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The pricing dilemma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1"/>
          <p:cNvCxnSpPr/>
          <p:nvPr/>
        </p:nvCxnSpPr>
        <p:spPr>
          <a:xfrm>
            <a:off x="475488" y="2025680"/>
            <a:ext cx="3490874" cy="0"/>
          </a:xfrm>
          <a:prstGeom prst="straightConnector1">
            <a:avLst/>
          </a:prstGeom>
          <a:noFill/>
          <a:ln cap="flat" cmpd="sng" w="9525">
            <a:solidFill>
              <a:srgbClr val="4A58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1"/>
          <p:cNvSpPr/>
          <p:nvPr/>
        </p:nvSpPr>
        <p:spPr>
          <a:xfrm>
            <a:off x="509028" y="1970248"/>
            <a:ext cx="345429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1000"/>
              <a:buFont typeface="Georgia"/>
              <a:buNone/>
            </a:pPr>
            <a:r>
              <a:rPr i="1" lang="en-US" sz="10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Insurers must price each policy at its </a:t>
            </a:r>
            <a:r>
              <a:rPr b="1" i="1" lang="en-US" sz="1000">
                <a:solidFill>
                  <a:srgbClr val="D9A441"/>
                </a:solidFill>
                <a:latin typeface="Georgia"/>
                <a:ea typeface="Georgia"/>
                <a:cs typeface="Georgia"/>
                <a:sym typeface="Georgia"/>
              </a:rPr>
              <a:t>expected loss</a:t>
            </a:r>
            <a:r>
              <a:rPr i="1" lang="en-US" sz="10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, t</a:t>
            </a:r>
            <a:r>
              <a:rPr i="1" lang="en-US" sz="10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oo high and good drivers leave; too low and the book bleeds.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527317" y="2503009"/>
            <a:ext cx="345429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F5F1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900"/>
              <a:buFont typeface="Noto Sans Symbols"/>
              <a:buChar char="⮚"/>
            </a:pPr>
            <a:r>
              <a:rPr b="1" lang="en-US" sz="900">
                <a:solidFill>
                  <a:srgbClr val="F5F1E8"/>
                </a:solidFill>
                <a:latin typeface="Calibri"/>
                <a:ea typeface="Calibri"/>
                <a:cs typeface="Calibri"/>
                <a:sym typeface="Calibri"/>
              </a:rPr>
              <a:t>Three targets, one story</a:t>
            </a:r>
            <a:r>
              <a:rPr lang="en-US" sz="900">
                <a:solidFill>
                  <a:srgbClr val="F5F1E8"/>
                </a:solidFill>
                <a:latin typeface="Calibri"/>
                <a:ea typeface="Calibri"/>
                <a:cs typeface="Calibri"/>
                <a:sym typeface="Calibri"/>
              </a:rPr>
              <a:t>: LC, HALC, CS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900"/>
              <a:buFont typeface="Noto Sans Symbols"/>
              <a:buChar char="⮚"/>
            </a:pPr>
            <a:r>
              <a:rPr b="1" lang="en-US" sz="900">
                <a:solidFill>
                  <a:srgbClr val="F5F1E8"/>
                </a:solidFill>
                <a:latin typeface="Calibri"/>
                <a:ea typeface="Calibri"/>
                <a:cs typeface="Calibri"/>
                <a:sym typeface="Calibri"/>
              </a:rPr>
              <a:t>Zero-inflation</a:t>
            </a:r>
            <a:r>
              <a:rPr lang="en-US" sz="900">
                <a:solidFill>
                  <a:srgbClr val="F5F1E8"/>
                </a:solidFill>
                <a:latin typeface="Calibri"/>
                <a:ea typeface="Calibri"/>
                <a:cs typeface="Calibri"/>
                <a:sym typeface="Calibri"/>
              </a:rPr>
              <a:t>: most policyholders never claim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900"/>
              <a:buFont typeface="Noto Sans Symbols"/>
              <a:buChar char="⮚"/>
            </a:pPr>
            <a:r>
              <a:rPr b="1" lang="en-US" sz="900">
                <a:solidFill>
                  <a:srgbClr val="F5F1E8"/>
                </a:solidFill>
                <a:latin typeface="Calibri"/>
                <a:ea typeface="Calibri"/>
                <a:cs typeface="Calibri"/>
                <a:sym typeface="Calibri"/>
              </a:rPr>
              <a:t>Heavy right tail</a:t>
            </a:r>
            <a:r>
              <a:rPr lang="en-US" sz="900">
                <a:solidFill>
                  <a:srgbClr val="F5F1E8"/>
                </a:solidFill>
                <a:latin typeface="Calibri"/>
                <a:ea typeface="Calibri"/>
                <a:cs typeface="Calibri"/>
                <a:sym typeface="Calibri"/>
              </a:rPr>
              <a:t>: $4–35K (LC), $3–78K (HALC)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900"/>
              <a:buFont typeface="Noto Sans Symbols"/>
              <a:buChar char="⮚"/>
            </a:pPr>
            <a:r>
              <a:rPr b="1" lang="en-US" sz="900">
                <a:solidFill>
                  <a:srgbClr val="F5F1E8"/>
                </a:solidFill>
                <a:latin typeface="Calibri"/>
                <a:ea typeface="Calibri"/>
                <a:cs typeface="Calibri"/>
                <a:sym typeface="Calibri"/>
              </a:rPr>
              <a:t>Leakage trap</a:t>
            </a:r>
            <a:r>
              <a:rPr lang="en-US" sz="900">
                <a:solidFill>
                  <a:srgbClr val="F5F1E8"/>
                </a:solidFill>
                <a:latin typeface="Calibri"/>
                <a:ea typeface="Calibri"/>
                <a:cs typeface="Calibri"/>
                <a:sym typeface="Calibri"/>
              </a:rPr>
              <a:t>: X.15–X.18 excluded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512064" y="3479292"/>
            <a:ext cx="3454298" cy="41148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512064" y="3479292"/>
            <a:ext cx="36576" cy="411480"/>
          </a:xfrm>
          <a:prstGeom prst="rect">
            <a:avLst/>
          </a:prstGeom>
          <a:solidFill>
            <a:srgbClr val="D9A44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603504" y="3515868"/>
            <a:ext cx="336285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700"/>
              <a:buFont typeface="Consolas"/>
              <a:buNone/>
            </a:pPr>
            <a:r>
              <a:rPr lang="en-US" sz="700">
                <a:solidFill>
                  <a:srgbClr val="D9A441"/>
                </a:solidFill>
                <a:latin typeface="Consolas"/>
                <a:ea typeface="Consolas"/>
                <a:cs typeface="Consolas"/>
                <a:sym typeface="Consolas"/>
              </a:rPr>
              <a:t>TWEEDIE DECOMPOSITION  ·  p ∈ (1, 2)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603504" y="3643884"/>
            <a:ext cx="33628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1200"/>
              <a:buFont typeface="Georgia"/>
              <a:buNone/>
            </a:pPr>
            <a:r>
              <a:rPr i="1" lang="en-US" sz="12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E[Loss] = Pr(Claim) × E[Loss | Claim]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4218053" y="1719072"/>
            <a:ext cx="3746906" cy="2263140"/>
          </a:xfrm>
          <a:prstGeom prst="rect">
            <a:avLst/>
          </a:prstGeom>
          <a:solidFill>
            <a:srgbClr val="ECE4D2"/>
          </a:solidFill>
          <a:ln cap="flat" cmpd="sng" w="9525">
            <a:solidFill>
              <a:srgbClr val="2A38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4350410" y="1810512"/>
            <a:ext cx="349087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31C"/>
              </a:buClr>
              <a:buSzPts val="650"/>
              <a:buFont typeface="Consolas"/>
              <a:buNone/>
            </a:pPr>
            <a:r>
              <a:rPr lang="en-US" sz="650">
                <a:solidFill>
                  <a:srgbClr val="C8531C"/>
                </a:solidFill>
                <a:latin typeface="Consolas"/>
                <a:ea typeface="Consolas"/>
                <a:cs typeface="Consolas"/>
                <a:sym typeface="Consolas"/>
              </a:rPr>
              <a:t>02 / APPROACHES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5515830" y="1741647"/>
            <a:ext cx="349087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1100"/>
              <a:buFont typeface="Georgia"/>
              <a:buNone/>
            </a:pPr>
            <a:r>
              <a:rPr lang="en-US" sz="11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Models we tried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1"/>
          <p:cNvCxnSpPr/>
          <p:nvPr/>
        </p:nvCxnSpPr>
        <p:spPr>
          <a:xfrm>
            <a:off x="4350410" y="2025680"/>
            <a:ext cx="3490874" cy="0"/>
          </a:xfrm>
          <a:prstGeom prst="straightConnector1">
            <a:avLst/>
          </a:prstGeom>
          <a:noFill/>
          <a:ln cap="flat" cmpd="sng" w="9525">
            <a:solidFill>
              <a:srgbClr val="2A38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"/>
          <p:cNvSpPr/>
          <p:nvPr/>
        </p:nvSpPr>
        <p:spPr>
          <a:xfrm>
            <a:off x="4365146" y="2125574"/>
            <a:ext cx="131263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891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6B7891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5714357" y="2119934"/>
            <a:ext cx="115617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891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6B7891"/>
                </a:solidFill>
                <a:latin typeface="Consolas"/>
                <a:ea typeface="Consolas"/>
                <a:cs typeface="Consolas"/>
                <a:sym typeface="Consolas"/>
              </a:rPr>
              <a:t>STRENGTH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6888818" y="2119836"/>
            <a:ext cx="89811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891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6B7891"/>
                </a:solidFill>
                <a:latin typeface="Consolas"/>
                <a:ea typeface="Consolas"/>
                <a:cs typeface="Consolas"/>
                <a:sym typeface="Consolas"/>
              </a:rPr>
              <a:t>WEAKNESS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1"/>
          <p:cNvCxnSpPr/>
          <p:nvPr/>
        </p:nvCxnSpPr>
        <p:spPr>
          <a:xfrm>
            <a:off x="4365147" y="2357723"/>
            <a:ext cx="3454298" cy="0"/>
          </a:xfrm>
          <a:prstGeom prst="straightConnector1">
            <a:avLst/>
          </a:prstGeom>
          <a:noFill/>
          <a:ln cap="flat" cmpd="sng" w="9525">
            <a:solidFill>
              <a:srgbClr val="2A38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1"/>
          <p:cNvSpPr/>
          <p:nvPr/>
        </p:nvSpPr>
        <p:spPr>
          <a:xfrm>
            <a:off x="4365147" y="2376011"/>
            <a:ext cx="131263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900"/>
              <a:buFont typeface="Georgia"/>
              <a:buNone/>
            </a:pPr>
            <a:r>
              <a:rPr lang="en-US" sz="9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Tweedie GLM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5714357" y="2376011"/>
            <a:ext cx="115617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7D4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F7D4E"/>
                </a:solidFill>
                <a:latin typeface="Calibri"/>
                <a:ea typeface="Calibri"/>
                <a:cs typeface="Calibri"/>
                <a:sym typeface="Calibri"/>
              </a:rPr>
              <a:t>Native zero-inflation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6888817" y="2376011"/>
            <a:ext cx="10761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2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B23A2A"/>
                </a:solidFill>
                <a:latin typeface="Calibri"/>
                <a:ea typeface="Calibri"/>
                <a:cs typeface="Calibri"/>
                <a:sym typeface="Calibri"/>
              </a:rPr>
              <a:t>Linear; misses interaction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1"/>
          <p:cNvCxnSpPr/>
          <p:nvPr/>
        </p:nvCxnSpPr>
        <p:spPr>
          <a:xfrm>
            <a:off x="4365147" y="2558891"/>
            <a:ext cx="3454298" cy="0"/>
          </a:xfrm>
          <a:prstGeom prst="straightConnector1">
            <a:avLst/>
          </a:prstGeom>
          <a:noFill/>
          <a:ln cap="flat" cmpd="sng" w="9525">
            <a:solidFill>
              <a:srgbClr val="B7B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"/>
          <p:cNvSpPr/>
          <p:nvPr/>
        </p:nvSpPr>
        <p:spPr>
          <a:xfrm>
            <a:off x="4365147" y="2577179"/>
            <a:ext cx="131263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900"/>
              <a:buFont typeface="Georgia"/>
              <a:buNone/>
            </a:pPr>
            <a:r>
              <a:rPr lang="en-US" sz="9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Logistic Reg.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5714357" y="2577179"/>
            <a:ext cx="115617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7D4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F7D4E"/>
                </a:solidFill>
                <a:latin typeface="Calibri"/>
                <a:ea typeface="Calibri"/>
                <a:cs typeface="Calibri"/>
                <a:sym typeface="Calibri"/>
              </a:rPr>
              <a:t>Calibrated; interpretable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6888818" y="2577179"/>
            <a:ext cx="89811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2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B23A2A"/>
                </a:solidFill>
                <a:latin typeface="Calibri"/>
                <a:ea typeface="Calibri"/>
                <a:cs typeface="Calibri"/>
                <a:sym typeface="Calibri"/>
              </a:rPr>
              <a:t>AUC ≈ 0.72 ceiling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1"/>
          <p:cNvCxnSpPr/>
          <p:nvPr/>
        </p:nvCxnSpPr>
        <p:spPr>
          <a:xfrm>
            <a:off x="4365147" y="2760059"/>
            <a:ext cx="3454298" cy="0"/>
          </a:xfrm>
          <a:prstGeom prst="straightConnector1">
            <a:avLst/>
          </a:prstGeom>
          <a:noFill/>
          <a:ln cap="flat" cmpd="sng" w="9525">
            <a:solidFill>
              <a:srgbClr val="B7B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1"/>
          <p:cNvSpPr/>
          <p:nvPr/>
        </p:nvSpPr>
        <p:spPr>
          <a:xfrm>
            <a:off x="4365147" y="2778347"/>
            <a:ext cx="131263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900"/>
              <a:buFont typeface="Georgia"/>
              <a:buNone/>
            </a:pPr>
            <a:r>
              <a:rPr lang="en-US" sz="9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Random Forest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5714357" y="2778347"/>
            <a:ext cx="115617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7D4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F7D4E"/>
                </a:solidFill>
                <a:latin typeface="Calibri"/>
                <a:ea typeface="Calibri"/>
                <a:cs typeface="Calibri"/>
                <a:sym typeface="Calibri"/>
              </a:rPr>
              <a:t>Non-linear; little tuning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6888818" y="2778347"/>
            <a:ext cx="89811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2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B23A2A"/>
                </a:solidFill>
                <a:latin typeface="Calibri"/>
                <a:ea typeface="Calibri"/>
                <a:cs typeface="Calibri"/>
                <a:sym typeface="Calibri"/>
              </a:rPr>
              <a:t>Weaker than booster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1"/>
          <p:cNvCxnSpPr/>
          <p:nvPr/>
        </p:nvCxnSpPr>
        <p:spPr>
          <a:xfrm>
            <a:off x="4365147" y="2961227"/>
            <a:ext cx="3454298" cy="0"/>
          </a:xfrm>
          <a:prstGeom prst="straightConnector1">
            <a:avLst/>
          </a:prstGeom>
          <a:noFill/>
          <a:ln cap="flat" cmpd="sng" w="9525">
            <a:solidFill>
              <a:srgbClr val="B7B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"/>
          <p:cNvSpPr/>
          <p:nvPr/>
        </p:nvSpPr>
        <p:spPr>
          <a:xfrm>
            <a:off x="4350410" y="2974658"/>
            <a:ext cx="3527450" cy="182880"/>
          </a:xfrm>
          <a:prstGeom prst="rect">
            <a:avLst/>
          </a:prstGeom>
          <a:solidFill>
            <a:srgbClr val="D9A441">
              <a:alpha val="200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4365147" y="2979515"/>
            <a:ext cx="131263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900"/>
              <a:buFont typeface="Georgia"/>
              <a:buNone/>
            </a:pPr>
            <a:r>
              <a:rPr lang="en-US" sz="9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XGBoost (Tw.) ★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5714357" y="2979515"/>
            <a:ext cx="115617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7D4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F7D4E"/>
                </a:solidFill>
                <a:latin typeface="Calibri"/>
                <a:ea typeface="Calibri"/>
                <a:cs typeface="Calibri"/>
                <a:sym typeface="Calibri"/>
              </a:rPr>
              <a:t>Best LC/HALC MSE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6888818" y="2979515"/>
            <a:ext cx="89811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2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B23A2A"/>
                </a:solidFill>
                <a:latin typeface="Calibri"/>
                <a:ea typeface="Calibri"/>
                <a:cs typeface="Calibri"/>
                <a:sym typeface="Calibri"/>
              </a:rPr>
              <a:t>Needs calibration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1"/>
          <p:cNvCxnSpPr/>
          <p:nvPr/>
        </p:nvCxnSpPr>
        <p:spPr>
          <a:xfrm>
            <a:off x="4365147" y="3162395"/>
            <a:ext cx="3454298" cy="0"/>
          </a:xfrm>
          <a:prstGeom prst="straightConnector1">
            <a:avLst/>
          </a:prstGeom>
          <a:noFill/>
          <a:ln cap="flat" cmpd="sng" w="9525">
            <a:solidFill>
              <a:srgbClr val="B7B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"/>
          <p:cNvSpPr/>
          <p:nvPr/>
        </p:nvSpPr>
        <p:spPr>
          <a:xfrm>
            <a:off x="4350410" y="3187014"/>
            <a:ext cx="3527450" cy="182880"/>
          </a:xfrm>
          <a:prstGeom prst="rect">
            <a:avLst/>
          </a:prstGeom>
          <a:solidFill>
            <a:srgbClr val="D9A441">
              <a:alpha val="200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/>
          <p:nvPr/>
        </p:nvSpPr>
        <p:spPr>
          <a:xfrm>
            <a:off x="4365147" y="3180683"/>
            <a:ext cx="131263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900"/>
              <a:buFont typeface="Georgia"/>
              <a:buNone/>
            </a:pPr>
            <a:r>
              <a:rPr lang="en-US" sz="9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LightGBM ★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5714357" y="3180683"/>
            <a:ext cx="115617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7D4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F7D4E"/>
                </a:solidFill>
                <a:latin typeface="Calibri"/>
                <a:ea typeface="Calibri"/>
                <a:cs typeface="Calibri"/>
                <a:sym typeface="Calibri"/>
              </a:rPr>
              <a:t>Top CS ranker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6888818" y="3180683"/>
            <a:ext cx="89811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2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B23A2A"/>
                </a:solidFill>
                <a:latin typeface="Calibri"/>
                <a:ea typeface="Calibri"/>
                <a:cs typeface="Calibri"/>
                <a:sym typeface="Calibri"/>
              </a:rPr>
              <a:t>Sensitive leaf-size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1"/>
          <p:cNvCxnSpPr/>
          <p:nvPr/>
        </p:nvCxnSpPr>
        <p:spPr>
          <a:xfrm>
            <a:off x="4365147" y="3363563"/>
            <a:ext cx="3454298" cy="0"/>
          </a:xfrm>
          <a:prstGeom prst="straightConnector1">
            <a:avLst/>
          </a:prstGeom>
          <a:noFill/>
          <a:ln cap="flat" cmpd="sng" w="9525">
            <a:solidFill>
              <a:srgbClr val="B7B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"/>
          <p:cNvSpPr/>
          <p:nvPr/>
        </p:nvSpPr>
        <p:spPr>
          <a:xfrm>
            <a:off x="4365147" y="3381851"/>
            <a:ext cx="131263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900"/>
              <a:buFont typeface="Georgia"/>
              <a:buNone/>
            </a:pPr>
            <a:r>
              <a:rPr lang="en-US" sz="9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Stacking Ensemble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5714357" y="3381851"/>
            <a:ext cx="115617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7D4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F7D4E"/>
                </a:solidFill>
                <a:latin typeface="Calibri"/>
                <a:ea typeface="Calibri"/>
                <a:cs typeface="Calibri"/>
                <a:sym typeface="Calibri"/>
              </a:rPr>
              <a:t>Combines linear + tree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6888826" y="3381850"/>
            <a:ext cx="10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2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B23A2A"/>
                </a:solidFill>
                <a:latin typeface="Calibri"/>
                <a:ea typeface="Calibri"/>
                <a:cs typeface="Calibri"/>
                <a:sym typeface="Calibri"/>
              </a:rPr>
              <a:t>Marginal gain; black box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"/>
          <p:cNvCxnSpPr/>
          <p:nvPr/>
        </p:nvCxnSpPr>
        <p:spPr>
          <a:xfrm>
            <a:off x="4365147" y="3564731"/>
            <a:ext cx="3454298" cy="0"/>
          </a:xfrm>
          <a:prstGeom prst="straightConnector1">
            <a:avLst/>
          </a:prstGeom>
          <a:noFill/>
          <a:ln cap="flat" cmpd="sng" w="9525">
            <a:solidFill>
              <a:srgbClr val="B7B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"/>
          <p:cNvSpPr/>
          <p:nvPr/>
        </p:nvSpPr>
        <p:spPr>
          <a:xfrm>
            <a:off x="4365147" y="3583019"/>
            <a:ext cx="131263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900"/>
              <a:buFont typeface="Georgia"/>
              <a:buNone/>
            </a:pPr>
            <a:r>
              <a:rPr lang="en-US" sz="9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SMOTE Oversamp.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5714357" y="3583019"/>
            <a:ext cx="115617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7D4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F7D4E"/>
                </a:solidFill>
                <a:latin typeface="Calibri"/>
                <a:ea typeface="Calibri"/>
                <a:cs typeface="Calibri"/>
                <a:sym typeface="Calibri"/>
              </a:rPr>
              <a:t>Balances classes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6888818" y="3583019"/>
            <a:ext cx="89811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2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B23A2A"/>
                </a:solidFill>
                <a:latin typeface="Calibri"/>
                <a:ea typeface="Calibri"/>
                <a:cs typeface="Calibri"/>
                <a:sym typeface="Calibri"/>
              </a:rPr>
              <a:t>Hurt AUC empirically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1"/>
          <p:cNvCxnSpPr/>
          <p:nvPr/>
        </p:nvCxnSpPr>
        <p:spPr>
          <a:xfrm>
            <a:off x="4365147" y="3765899"/>
            <a:ext cx="3454298" cy="0"/>
          </a:xfrm>
          <a:prstGeom prst="straightConnector1">
            <a:avLst/>
          </a:prstGeom>
          <a:noFill/>
          <a:ln cap="flat" cmpd="sng" w="9525">
            <a:solidFill>
              <a:srgbClr val="B7B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"/>
          <p:cNvSpPr/>
          <p:nvPr/>
        </p:nvSpPr>
        <p:spPr>
          <a:xfrm>
            <a:off x="8070346" y="1724049"/>
            <a:ext cx="3746906" cy="2263140"/>
          </a:xfrm>
          <a:prstGeom prst="rect">
            <a:avLst/>
          </a:prstGeom>
          <a:solidFill>
            <a:srgbClr val="ECE4D2"/>
          </a:solidFill>
          <a:ln cap="flat" cmpd="sng" w="9525">
            <a:solidFill>
              <a:srgbClr val="2A38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8207045" y="1810512"/>
            <a:ext cx="349087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31C"/>
              </a:buClr>
              <a:buSzPts val="650"/>
              <a:buFont typeface="Consolas"/>
              <a:buNone/>
            </a:pPr>
            <a:r>
              <a:rPr lang="en-US" sz="650">
                <a:solidFill>
                  <a:srgbClr val="C8531C"/>
                </a:solidFill>
                <a:latin typeface="Consolas"/>
                <a:ea typeface="Consolas"/>
                <a:cs typeface="Consolas"/>
                <a:sym typeface="Consolas"/>
              </a:rPr>
              <a:t>03 / PERFORMANCE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9409040" y="1741647"/>
            <a:ext cx="349087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1100"/>
              <a:buFont typeface="Georgia"/>
              <a:buNone/>
            </a:pPr>
            <a:r>
              <a:rPr lang="en-US" sz="11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Model</a:t>
            </a:r>
            <a:r>
              <a:rPr lang="en-US" sz="11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 leaderboard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"/>
          <p:cNvCxnSpPr/>
          <p:nvPr/>
        </p:nvCxnSpPr>
        <p:spPr>
          <a:xfrm>
            <a:off x="8201879" y="2025680"/>
            <a:ext cx="3490874" cy="0"/>
          </a:xfrm>
          <a:prstGeom prst="straightConnector1">
            <a:avLst/>
          </a:prstGeom>
          <a:noFill/>
          <a:ln cap="flat" cmpd="sng" w="9525">
            <a:solidFill>
              <a:srgbClr val="2A38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"/>
          <p:cNvSpPr/>
          <p:nvPr/>
        </p:nvSpPr>
        <p:spPr>
          <a:xfrm>
            <a:off x="8216494" y="2131981"/>
            <a:ext cx="24354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891"/>
              </a:buClr>
              <a:buSzPts val="700"/>
              <a:buFont typeface="Consolas"/>
              <a:buNone/>
            </a:pPr>
            <a:r>
              <a:rPr lang="en-US" sz="700">
                <a:solidFill>
                  <a:srgbClr val="6B7891"/>
                </a:solidFill>
                <a:latin typeface="Consolas"/>
                <a:ea typeface="Consolas"/>
                <a:cs typeface="Consolas"/>
                <a:sym typeface="Consolas"/>
              </a:rPr>
              <a:t>TASK 2 · CLAIM STATUS (CS)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1039856" y="2131981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531C"/>
              </a:buClr>
              <a:buSzPts val="800"/>
              <a:buFont typeface="Georgia"/>
              <a:buNone/>
            </a:pPr>
            <a:r>
              <a:rPr i="1" lang="en-US" sz="800">
                <a:solidFill>
                  <a:srgbClr val="C8531C"/>
                </a:solidFill>
                <a:latin typeface="Georgia"/>
                <a:ea typeface="Georgia"/>
                <a:cs typeface="Georgia"/>
                <a:sym typeface="Georgia"/>
              </a:rPr>
              <a:t>ROC-AUC ↑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8218725" y="2312003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Stack ensemble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9222334" y="2342293"/>
            <a:ext cx="1899818" cy="73152"/>
          </a:xfrm>
          <a:prstGeom prst="rect">
            <a:avLst/>
          </a:prstGeom>
          <a:solidFill>
            <a:srgbClr val="2A3852">
              <a:alpha val="7843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9222334" y="2342293"/>
            <a:ext cx="1873221" cy="73152"/>
          </a:xfrm>
          <a:prstGeom prst="rect">
            <a:avLst/>
          </a:prstGeom>
          <a:solidFill>
            <a:srgbClr val="C8531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1167872" y="2314861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531C"/>
              </a:buClr>
              <a:buSzPts val="850"/>
              <a:buFont typeface="Consolas"/>
              <a:buNone/>
            </a:pPr>
            <a:r>
              <a:rPr b="1" lang="en-US" sz="850">
                <a:solidFill>
                  <a:srgbClr val="C8531C"/>
                </a:solidFill>
                <a:latin typeface="Consolas"/>
                <a:ea typeface="Consolas"/>
                <a:cs typeface="Consolas"/>
                <a:sym typeface="Consolas"/>
              </a:rPr>
              <a:t>0.7886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8216494" y="2461165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9222334" y="2488597"/>
            <a:ext cx="1899818" cy="73152"/>
          </a:xfrm>
          <a:prstGeom prst="rect">
            <a:avLst/>
          </a:prstGeom>
          <a:solidFill>
            <a:srgbClr val="2A3852">
              <a:alpha val="7843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9222334" y="2488597"/>
            <a:ext cx="1873221" cy="73152"/>
          </a:xfrm>
          <a:prstGeom prst="rect">
            <a:avLst/>
          </a:prstGeom>
          <a:solidFill>
            <a:srgbClr val="1F2D4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1167872" y="2461165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E1B2C"/>
                </a:solidFill>
                <a:latin typeface="Consolas"/>
                <a:ea typeface="Consolas"/>
                <a:cs typeface="Consolas"/>
                <a:sym typeface="Consolas"/>
              </a:rPr>
              <a:t>0.7880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8216494" y="2607469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XGBoost tuned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9222334" y="2634901"/>
            <a:ext cx="1899818" cy="73152"/>
          </a:xfrm>
          <a:prstGeom prst="rect">
            <a:avLst/>
          </a:prstGeom>
          <a:solidFill>
            <a:srgbClr val="2A3852">
              <a:alpha val="7843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9222334" y="2634901"/>
            <a:ext cx="1865622" cy="73152"/>
          </a:xfrm>
          <a:prstGeom prst="rect">
            <a:avLst/>
          </a:prstGeom>
          <a:solidFill>
            <a:srgbClr val="1F2D4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11167872" y="2607469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E1B2C"/>
                </a:solidFill>
                <a:latin typeface="Consolas"/>
                <a:ea typeface="Consolas"/>
                <a:cs typeface="Consolas"/>
                <a:sym typeface="Consolas"/>
              </a:rPr>
              <a:t>0.7840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8216494" y="2753773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9222334" y="2781205"/>
            <a:ext cx="1899818" cy="73152"/>
          </a:xfrm>
          <a:prstGeom prst="rect">
            <a:avLst/>
          </a:prstGeom>
          <a:solidFill>
            <a:srgbClr val="2A3852">
              <a:alpha val="7843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9222334" y="2781205"/>
            <a:ext cx="1827625" cy="73152"/>
          </a:xfrm>
          <a:prstGeom prst="rect">
            <a:avLst/>
          </a:prstGeom>
          <a:solidFill>
            <a:srgbClr val="1F2D4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11167872" y="2753773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E1B2C"/>
                </a:solidFill>
                <a:latin typeface="Consolas"/>
                <a:ea typeface="Consolas"/>
                <a:cs typeface="Consolas"/>
                <a:sym typeface="Consolas"/>
              </a:rPr>
              <a:t>0.7691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8216494" y="2900077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Logit (balanced)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9222334" y="2927509"/>
            <a:ext cx="1899818" cy="73152"/>
          </a:xfrm>
          <a:prstGeom prst="rect">
            <a:avLst/>
          </a:prstGeom>
          <a:solidFill>
            <a:srgbClr val="2A3852">
              <a:alpha val="7843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9222334" y="2927509"/>
            <a:ext cx="1719336" cy="73152"/>
          </a:xfrm>
          <a:prstGeom prst="rect">
            <a:avLst/>
          </a:prstGeom>
          <a:solidFill>
            <a:srgbClr val="1F2D4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1167872" y="2900077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E1B2C"/>
                </a:solidFill>
                <a:latin typeface="Consolas"/>
                <a:ea typeface="Consolas"/>
                <a:cs typeface="Consolas"/>
                <a:sym typeface="Consolas"/>
              </a:rPr>
              <a:t>0.7239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8216494" y="3046381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Logit + SMOTE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9222334" y="3073813"/>
            <a:ext cx="1899818" cy="73152"/>
          </a:xfrm>
          <a:prstGeom prst="rect">
            <a:avLst/>
          </a:prstGeom>
          <a:solidFill>
            <a:srgbClr val="2A3852">
              <a:alpha val="7843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9222334" y="3073813"/>
            <a:ext cx="1707937" cy="73152"/>
          </a:xfrm>
          <a:prstGeom prst="rect">
            <a:avLst/>
          </a:prstGeom>
          <a:solidFill>
            <a:srgbClr val="1F2D4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11167872" y="3046381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E1B2C"/>
                </a:solidFill>
                <a:latin typeface="Consolas"/>
                <a:ea typeface="Consolas"/>
                <a:cs typeface="Consolas"/>
                <a:sym typeface="Consolas"/>
              </a:rPr>
              <a:t>0.7190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216494" y="3265837"/>
            <a:ext cx="24354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891"/>
              </a:buClr>
              <a:buSzPts val="700"/>
              <a:buFont typeface="Consolas"/>
              <a:buNone/>
            </a:pPr>
            <a:r>
              <a:rPr lang="en-US" sz="700">
                <a:solidFill>
                  <a:srgbClr val="6B7891"/>
                </a:solidFill>
                <a:latin typeface="Consolas"/>
                <a:ea typeface="Consolas"/>
                <a:cs typeface="Consolas"/>
                <a:sym typeface="Consolas"/>
              </a:rPr>
              <a:t>TASK 1 · LOSS COST (LC)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11039856" y="3265837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531C"/>
              </a:buClr>
              <a:buSzPts val="800"/>
              <a:buFont typeface="Georgia"/>
              <a:buNone/>
            </a:pPr>
            <a:r>
              <a:rPr i="1" lang="en-US" sz="800">
                <a:solidFill>
                  <a:srgbClr val="C8531C"/>
                </a:solidFill>
                <a:latin typeface="Georgia"/>
                <a:ea typeface="Georgia"/>
                <a:cs typeface="Georgia"/>
                <a:sym typeface="Georgia"/>
              </a:rPr>
              <a:t>CV-MSE ↓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44277" y="3464718"/>
            <a:ext cx="116753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XGBoost (Tweedie) tuned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9222334" y="3494437"/>
            <a:ext cx="1899818" cy="73152"/>
          </a:xfrm>
          <a:prstGeom prst="rect">
            <a:avLst/>
          </a:prstGeom>
          <a:solidFill>
            <a:srgbClr val="2A3852">
              <a:alpha val="7843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9222334" y="3494437"/>
            <a:ext cx="1481858" cy="73152"/>
          </a:xfrm>
          <a:prstGeom prst="rect">
            <a:avLst/>
          </a:prstGeom>
          <a:solidFill>
            <a:srgbClr val="C8531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11167872" y="3467005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531C"/>
              </a:buClr>
              <a:buSzPts val="850"/>
              <a:buFont typeface="Consolas"/>
              <a:buNone/>
            </a:pPr>
            <a:r>
              <a:rPr b="1" lang="en-US" sz="850">
                <a:solidFill>
                  <a:srgbClr val="C8531C"/>
                </a:solidFill>
                <a:latin typeface="Consolas"/>
                <a:ea typeface="Consolas"/>
                <a:cs typeface="Consolas"/>
                <a:sym typeface="Consolas"/>
              </a:rPr>
              <a:t>257,072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46644" y="3610451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XGBoost baseline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9222334" y="3640741"/>
            <a:ext cx="1899818" cy="73152"/>
          </a:xfrm>
          <a:prstGeom prst="rect">
            <a:avLst/>
          </a:prstGeom>
          <a:solidFill>
            <a:srgbClr val="2A3852">
              <a:alpha val="7843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9222334" y="3640741"/>
            <a:ext cx="1500857" cy="73152"/>
          </a:xfrm>
          <a:prstGeom prst="rect">
            <a:avLst/>
          </a:prstGeom>
          <a:solidFill>
            <a:srgbClr val="1F2D4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11167872" y="3613309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E1B2C"/>
                </a:solidFill>
                <a:latin typeface="Consolas"/>
                <a:ea typeface="Consolas"/>
                <a:cs typeface="Consolas"/>
                <a:sym typeface="Consolas"/>
              </a:rPr>
              <a:t>259,418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8150263" y="3753961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Tweedie GLM (p=1.1)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9222334" y="3787045"/>
            <a:ext cx="1899818" cy="73152"/>
          </a:xfrm>
          <a:prstGeom prst="rect">
            <a:avLst/>
          </a:prstGeom>
          <a:solidFill>
            <a:srgbClr val="2A3852">
              <a:alpha val="7843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9222334" y="3787045"/>
            <a:ext cx="1510356" cy="73152"/>
          </a:xfrm>
          <a:prstGeom prst="rect">
            <a:avLst/>
          </a:prstGeom>
          <a:solidFill>
            <a:srgbClr val="1F2D4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11177016" y="3762756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E1B2C"/>
                </a:solidFill>
                <a:latin typeface="Consolas"/>
                <a:ea typeface="Consolas"/>
                <a:cs typeface="Consolas"/>
                <a:sym typeface="Consolas"/>
              </a:rPr>
              <a:t>260,385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365760" y="4091939"/>
            <a:ext cx="3746906" cy="2263140"/>
          </a:xfrm>
          <a:prstGeom prst="rect">
            <a:avLst/>
          </a:prstGeom>
          <a:solidFill>
            <a:srgbClr val="0E1B2C"/>
          </a:solidFill>
          <a:ln cap="flat" cmpd="sng" w="9525">
            <a:solidFill>
              <a:srgbClr val="0E1B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493776" y="4183380"/>
            <a:ext cx="349087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31C"/>
              </a:buClr>
              <a:buSzPts val="650"/>
              <a:buFont typeface="Consolas"/>
              <a:buNone/>
            </a:pPr>
            <a:r>
              <a:rPr lang="en-US" sz="650">
                <a:solidFill>
                  <a:srgbClr val="C8531C"/>
                </a:solidFill>
                <a:latin typeface="Consolas"/>
                <a:ea typeface="Consolas"/>
                <a:cs typeface="Consolas"/>
                <a:sym typeface="Consolas"/>
              </a:rPr>
              <a:t>04 / WINNERS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1511777" y="4120801"/>
            <a:ext cx="349087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1100"/>
              <a:buFont typeface="Georgia"/>
              <a:buNone/>
            </a:pPr>
            <a:r>
              <a:rPr lang="en-US" sz="11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Final models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>
            <a:off x="475488" y="4393382"/>
            <a:ext cx="3490874" cy="0"/>
          </a:xfrm>
          <a:prstGeom prst="straightConnector1">
            <a:avLst/>
          </a:prstGeom>
          <a:noFill/>
          <a:ln cap="flat" cmpd="sng" w="9525">
            <a:solidFill>
              <a:srgbClr val="4A58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1"/>
          <p:cNvSpPr/>
          <p:nvPr/>
        </p:nvSpPr>
        <p:spPr>
          <a:xfrm>
            <a:off x="467661" y="4464158"/>
            <a:ext cx="36576" cy="365760"/>
          </a:xfrm>
          <a:prstGeom prst="rect">
            <a:avLst/>
          </a:prstGeom>
          <a:solidFill>
            <a:srgbClr val="D9A44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545604" y="4430106"/>
            <a:ext cx="338114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700"/>
              <a:buFont typeface="Consolas"/>
              <a:buNone/>
            </a:pPr>
            <a:r>
              <a:rPr lang="en-US" sz="700">
                <a:solidFill>
                  <a:srgbClr val="D9A441"/>
                </a:solidFill>
                <a:latin typeface="Consolas"/>
                <a:ea typeface="Consolas"/>
                <a:cs typeface="Consolas"/>
                <a:sym typeface="Consolas"/>
              </a:rPr>
              <a:t>CS · CLASSIFICATION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548640" y="4599289"/>
            <a:ext cx="1228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800"/>
              <a:buFont typeface="Georgia"/>
              <a:buNone/>
            </a:pPr>
            <a:r>
              <a:rPr lang="en-US" sz="8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Stacked Ensemble</a:t>
            </a:r>
            <a:r>
              <a:rPr lang="en-US" sz="8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r>
              <a:rPr i="1" lang="en-US" sz="800">
                <a:solidFill>
                  <a:srgbClr val="D9A441"/>
                </a:solidFill>
                <a:latin typeface="Georgia"/>
                <a:ea typeface="Georgia"/>
                <a:cs typeface="Georgia"/>
                <a:sym typeface="Georgia"/>
              </a:rPr>
              <a:t>logit + RF + LGBM + XGB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475489" y="4896896"/>
            <a:ext cx="312242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475488" y="4896896"/>
            <a:ext cx="27432" cy="365760"/>
          </a:xfrm>
          <a:prstGeom prst="rect">
            <a:avLst/>
          </a:prstGeom>
          <a:solidFill>
            <a:srgbClr val="C8531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/>
          <p:nvPr/>
        </p:nvSpPr>
        <p:spPr>
          <a:xfrm>
            <a:off x="527317" y="4867465"/>
            <a:ext cx="314820" cy="186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800"/>
              <a:buFont typeface="Georgia"/>
              <a:buNone/>
            </a:pPr>
            <a:r>
              <a:rPr lang="en-US" sz="8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0.78</a:t>
            </a:r>
            <a:r>
              <a:rPr lang="en-US" sz="8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548640" y="5095700"/>
            <a:ext cx="207171" cy="11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99A"/>
              </a:buClr>
              <a:buSzPts val="500"/>
              <a:buFont typeface="Consolas"/>
              <a:buNone/>
            </a:pPr>
            <a:r>
              <a:rPr lang="en-US" sz="500">
                <a:solidFill>
                  <a:srgbClr val="B0A99A"/>
                </a:solidFill>
                <a:latin typeface="Consolas"/>
                <a:ea typeface="Consolas"/>
                <a:cs typeface="Consolas"/>
                <a:sym typeface="Consolas"/>
              </a:rPr>
              <a:t>ROC-AUC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"/>
          <p:cNvSpPr/>
          <p:nvPr/>
        </p:nvSpPr>
        <p:spPr>
          <a:xfrm>
            <a:off x="852591" y="4896896"/>
            <a:ext cx="291399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"/>
          <p:cNvSpPr/>
          <p:nvPr/>
        </p:nvSpPr>
        <p:spPr>
          <a:xfrm>
            <a:off x="848633" y="4896896"/>
            <a:ext cx="27432" cy="365760"/>
          </a:xfrm>
          <a:prstGeom prst="rect">
            <a:avLst/>
          </a:prstGeom>
          <a:solidFill>
            <a:srgbClr val="C8531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894901" y="4890470"/>
            <a:ext cx="237858" cy="140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700"/>
              <a:buFont typeface="Georgia"/>
              <a:buNone/>
            </a:pPr>
            <a:r>
              <a:rPr lang="en-US" sz="7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0.</a:t>
            </a:r>
            <a:r>
              <a:rPr lang="en-US" sz="7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344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899670" y="5088757"/>
            <a:ext cx="198672" cy="109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99A"/>
              </a:buClr>
              <a:buSzPts val="600"/>
              <a:buFont typeface="Consolas"/>
              <a:buNone/>
            </a:pPr>
            <a:r>
              <a:rPr lang="en-US" sz="600">
                <a:solidFill>
                  <a:srgbClr val="B0A99A"/>
                </a:solidFill>
                <a:latin typeface="Consolas"/>
                <a:ea typeface="Consolas"/>
                <a:cs typeface="Consolas"/>
                <a:sym typeface="Consolas"/>
              </a:rPr>
              <a:t>PR-AUC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"/>
          <p:cNvSpPr/>
          <p:nvPr/>
        </p:nvSpPr>
        <p:spPr>
          <a:xfrm>
            <a:off x="1229767" y="4896896"/>
            <a:ext cx="294233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228467" y="4896896"/>
            <a:ext cx="27432" cy="365760"/>
          </a:xfrm>
          <a:prstGeom prst="rect">
            <a:avLst/>
          </a:prstGeom>
          <a:solidFill>
            <a:srgbClr val="C8531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"/>
          <p:cNvSpPr/>
          <p:nvPr/>
        </p:nvSpPr>
        <p:spPr>
          <a:xfrm>
            <a:off x="1266890" y="4889324"/>
            <a:ext cx="545192" cy="186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800"/>
              <a:buFont typeface="Georgia"/>
              <a:buNone/>
            </a:pPr>
            <a:r>
              <a:rPr lang="en-US" sz="8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0.</a:t>
            </a:r>
            <a:r>
              <a:rPr lang="en-US" sz="8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191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1273012" y="5090323"/>
            <a:ext cx="545192" cy="109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99A"/>
              </a:buClr>
              <a:buSzPts val="600"/>
              <a:buFont typeface="Consolas"/>
              <a:buNone/>
            </a:pPr>
            <a:r>
              <a:rPr lang="en-US" sz="600">
                <a:solidFill>
                  <a:srgbClr val="B0A99A"/>
                </a:solidFill>
                <a:latin typeface="Consolas"/>
                <a:ea typeface="Consolas"/>
                <a:cs typeface="Consolas"/>
                <a:sym typeface="Consolas"/>
              </a:rPr>
              <a:t>Brier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"/>
          <p:cNvSpPr/>
          <p:nvPr/>
        </p:nvSpPr>
        <p:spPr>
          <a:xfrm>
            <a:off x="1600107" y="4896896"/>
            <a:ext cx="272236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1603306" y="4896896"/>
            <a:ext cx="27432" cy="365760"/>
          </a:xfrm>
          <a:prstGeom prst="rect">
            <a:avLst/>
          </a:prstGeom>
          <a:solidFill>
            <a:srgbClr val="C8531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1639408" y="4881752"/>
            <a:ext cx="74927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700"/>
              <a:buFont typeface="Georgia"/>
              <a:buNone/>
            </a:pPr>
            <a:r>
              <a:rPr lang="en-US" sz="7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5×CV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1643367" y="5087620"/>
            <a:ext cx="749275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99A"/>
              </a:buClr>
              <a:buSzPts val="500"/>
              <a:buFont typeface="Consolas"/>
              <a:buNone/>
            </a:pPr>
            <a:r>
              <a:rPr lang="en-US" sz="500">
                <a:solidFill>
                  <a:srgbClr val="B0A99A"/>
                </a:solidFill>
                <a:latin typeface="Consolas"/>
                <a:ea typeface="Consolas"/>
                <a:cs typeface="Consolas"/>
                <a:sym typeface="Consolas"/>
              </a:rPr>
              <a:t>Strat</a:t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470927" y="5303520"/>
            <a:ext cx="45719" cy="274320"/>
          </a:xfrm>
          <a:prstGeom prst="rect">
            <a:avLst/>
          </a:prstGeom>
          <a:solidFill>
            <a:srgbClr val="D9A44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548640" y="5290439"/>
            <a:ext cx="154719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700"/>
              <a:buFont typeface="Consolas"/>
              <a:buNone/>
            </a:pPr>
            <a:r>
              <a:rPr lang="en-US" sz="700">
                <a:solidFill>
                  <a:srgbClr val="D9A441"/>
                </a:solidFill>
                <a:latin typeface="Consolas"/>
                <a:ea typeface="Consolas"/>
                <a:cs typeface="Consolas"/>
                <a:sym typeface="Consolas"/>
              </a:rPr>
              <a:t>LC / HALC · REGRESSION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548640" y="5395910"/>
            <a:ext cx="127698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800"/>
              <a:buFont typeface="Georgia"/>
              <a:buNone/>
            </a:pPr>
            <a:r>
              <a:rPr lang="en-US" sz="8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XGBoost  </a:t>
            </a:r>
            <a:r>
              <a:rPr i="1" lang="en-US" sz="800">
                <a:solidFill>
                  <a:srgbClr val="D9A441"/>
                </a:solidFill>
                <a:latin typeface="Georgia"/>
                <a:ea typeface="Georgia"/>
                <a:cs typeface="Georgia"/>
                <a:sym typeface="Georgia"/>
              </a:rPr>
              <a:t>with Tweedie loss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"/>
          <p:cNvSpPr/>
          <p:nvPr/>
        </p:nvSpPr>
        <p:spPr>
          <a:xfrm>
            <a:off x="475488" y="5669280"/>
            <a:ext cx="660585" cy="34791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481596" y="5669280"/>
            <a:ext cx="27432" cy="365760"/>
          </a:xfrm>
          <a:prstGeom prst="rect">
            <a:avLst/>
          </a:prstGeom>
          <a:solidFill>
            <a:srgbClr val="C8531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593037" y="5669280"/>
            <a:ext cx="162656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1400"/>
              <a:buFont typeface="Georgia"/>
              <a:buNone/>
            </a:pPr>
            <a:r>
              <a:rPr lang="en-US" sz="14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257K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"/>
          <p:cNvSpPr/>
          <p:nvPr/>
        </p:nvSpPr>
        <p:spPr>
          <a:xfrm>
            <a:off x="548640" y="5895669"/>
            <a:ext cx="1626565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99A"/>
              </a:buClr>
              <a:buSzPts val="650"/>
              <a:buFont typeface="Consolas"/>
              <a:buNone/>
            </a:pPr>
            <a:r>
              <a:rPr lang="en-US" sz="650">
                <a:solidFill>
                  <a:srgbClr val="B0A99A"/>
                </a:solidFill>
                <a:latin typeface="Consolas"/>
                <a:ea typeface="Consolas"/>
                <a:cs typeface="Consolas"/>
                <a:sym typeface="Consolas"/>
              </a:rPr>
              <a:t>LC CV-MSE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1185081" y="5669280"/>
            <a:ext cx="675388" cy="347345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188883" y="5669280"/>
            <a:ext cx="27432" cy="365760"/>
          </a:xfrm>
          <a:prstGeom prst="rect">
            <a:avLst/>
          </a:prstGeom>
          <a:solidFill>
            <a:srgbClr val="C8531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1231386" y="5559552"/>
            <a:ext cx="1626565" cy="379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8"/>
              </a:buClr>
              <a:buSzPts val="1400"/>
              <a:buFont typeface="Georgia"/>
              <a:buNone/>
            </a:pPr>
            <a:r>
              <a:rPr lang="en-US" sz="14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~1.07M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"/>
          <p:cNvSpPr/>
          <p:nvPr/>
        </p:nvSpPr>
        <p:spPr>
          <a:xfrm>
            <a:off x="1237284" y="5879591"/>
            <a:ext cx="1626565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99A"/>
              </a:buClr>
              <a:buSzPts val="650"/>
              <a:buFont typeface="Consolas"/>
              <a:buNone/>
            </a:pPr>
            <a:r>
              <a:rPr lang="en-US" sz="650">
                <a:solidFill>
                  <a:srgbClr val="B0A99A"/>
                </a:solidFill>
                <a:latin typeface="Consolas"/>
                <a:ea typeface="Consolas"/>
                <a:cs typeface="Consolas"/>
                <a:sym typeface="Consolas"/>
              </a:rPr>
              <a:t>HALC CV-MSE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"/>
          <p:cNvSpPr/>
          <p:nvPr/>
        </p:nvSpPr>
        <p:spPr>
          <a:xfrm>
            <a:off x="4222394" y="4091940"/>
            <a:ext cx="3746906" cy="2263140"/>
          </a:xfrm>
          <a:prstGeom prst="rect">
            <a:avLst/>
          </a:prstGeom>
          <a:solidFill>
            <a:srgbClr val="ECE4D2"/>
          </a:solidFill>
          <a:ln cap="flat" cmpd="sng" w="9525">
            <a:solidFill>
              <a:srgbClr val="2A38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"/>
          <p:cNvSpPr/>
          <p:nvPr/>
        </p:nvSpPr>
        <p:spPr>
          <a:xfrm>
            <a:off x="4350410" y="4183380"/>
            <a:ext cx="349087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31C"/>
              </a:buClr>
              <a:buSzPts val="650"/>
              <a:buFont typeface="Consolas"/>
              <a:buNone/>
            </a:pPr>
            <a:r>
              <a:rPr lang="en-US" sz="650">
                <a:solidFill>
                  <a:srgbClr val="C8531C"/>
                </a:solidFill>
                <a:latin typeface="Consolas"/>
                <a:ea typeface="Consolas"/>
                <a:cs typeface="Consolas"/>
                <a:sym typeface="Consolas"/>
              </a:rPr>
              <a:t>05 / WHY IT MATTERS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5755589" y="4111655"/>
            <a:ext cx="349087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1100"/>
              <a:buFont typeface="Georgia"/>
              <a:buNone/>
            </a:pPr>
            <a:r>
              <a:rPr lang="en-US" sz="11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Lift, not accuracy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"/>
          <p:cNvCxnSpPr/>
          <p:nvPr/>
        </p:nvCxnSpPr>
        <p:spPr>
          <a:xfrm>
            <a:off x="4346069" y="4398548"/>
            <a:ext cx="3490874" cy="0"/>
          </a:xfrm>
          <a:prstGeom prst="straightConnector1">
            <a:avLst/>
          </a:prstGeom>
          <a:noFill/>
          <a:ln cap="flat" cmpd="sng" w="9525">
            <a:solidFill>
              <a:srgbClr val="2A38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1"/>
          <p:cNvSpPr/>
          <p:nvPr/>
        </p:nvSpPr>
        <p:spPr>
          <a:xfrm>
            <a:off x="4260913" y="4383625"/>
            <a:ext cx="3747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4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AUC 0.79 still mislabels singletons, but </a:t>
            </a:r>
            <a:r>
              <a:rPr lang="en-US" sz="90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the model is highly effective at risk segmentation → </a:t>
            </a:r>
            <a:r>
              <a:rPr b="1" lang="en-US" sz="90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claims concentrated in the top deciles</a:t>
            </a:r>
            <a:r>
              <a:rPr lang="en-US" sz="90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, which impacts pricing.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"/>
          <p:cNvSpPr/>
          <p:nvPr/>
        </p:nvSpPr>
        <p:spPr>
          <a:xfrm>
            <a:off x="4386986" y="5815869"/>
            <a:ext cx="345429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750"/>
              <a:buFont typeface="Noto Sans Symbols"/>
              <a:buChar char="⮚"/>
            </a:pPr>
            <a:r>
              <a:rPr b="1" lang="en-US" sz="75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Top decile</a:t>
            </a:r>
            <a:r>
              <a:rPr lang="en-US" sz="75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 ≈ 3× the average claim rate, a meaningful pricing signal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750"/>
              <a:buFont typeface="Noto Sans Symbols"/>
              <a:buChar char="⮚"/>
            </a:pPr>
            <a:r>
              <a:rPr b="1" lang="en-US" sz="75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Cost-sensitive threshold</a:t>
            </a:r>
            <a:r>
              <a:rPr lang="en-US" sz="75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 (FN = 10× FP) shifts boundary, surfacing recall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750"/>
              <a:buFont typeface="Noto Sans Symbols"/>
              <a:buChar char="⮚"/>
            </a:pPr>
            <a:r>
              <a:rPr b="1" lang="en-US" sz="75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Bootstrap 95 % CI</a:t>
            </a:r>
            <a:r>
              <a:rPr lang="en-US" sz="75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 AUC: [0.77</a:t>
            </a:r>
            <a:r>
              <a:rPr lang="en-US" sz="75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r>
              <a:rPr lang="en-US" sz="750">
                <a:solidFill>
                  <a:srgbClr val="0E1B2C"/>
                </a:solidFill>
                <a:latin typeface="Calibri"/>
                <a:ea typeface="Calibri"/>
                <a:cs typeface="Calibri"/>
                <a:sym typeface="Calibri"/>
              </a:rPr>
              <a:t>, 0.8033] → no over-claiming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"/>
          <p:cNvSpPr/>
          <p:nvPr/>
        </p:nvSpPr>
        <p:spPr>
          <a:xfrm>
            <a:off x="8079029" y="4082800"/>
            <a:ext cx="3746906" cy="2267708"/>
          </a:xfrm>
          <a:prstGeom prst="rect">
            <a:avLst/>
          </a:prstGeom>
          <a:solidFill>
            <a:srgbClr val="ECE4D2"/>
          </a:solidFill>
          <a:ln cap="flat" cmpd="sng" w="9525">
            <a:solidFill>
              <a:srgbClr val="2A38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"/>
          <p:cNvSpPr/>
          <p:nvPr/>
        </p:nvSpPr>
        <p:spPr>
          <a:xfrm>
            <a:off x="8207045" y="4183380"/>
            <a:ext cx="349087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31C"/>
              </a:buClr>
              <a:buSzPts val="650"/>
              <a:buFont typeface="Consolas"/>
              <a:buNone/>
            </a:pPr>
            <a:r>
              <a:rPr lang="en-US" sz="650">
                <a:solidFill>
                  <a:srgbClr val="C8531C"/>
                </a:solidFill>
                <a:latin typeface="Consolas"/>
                <a:ea typeface="Consolas"/>
                <a:cs typeface="Consolas"/>
                <a:sym typeface="Consolas"/>
              </a:rPr>
              <a:t>06 / IMPACT &amp; LIMITS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9741377" y="4119062"/>
            <a:ext cx="349087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C"/>
              </a:buClr>
              <a:buSzPts val="1100"/>
              <a:buFont typeface="Georgia"/>
              <a:buNone/>
            </a:pPr>
            <a:r>
              <a:rPr lang="en-US" sz="1100">
                <a:solidFill>
                  <a:srgbClr val="0E1B2C"/>
                </a:solidFill>
                <a:latin typeface="Georgia"/>
                <a:ea typeface="Georgia"/>
                <a:cs typeface="Georgia"/>
                <a:sym typeface="Georgia"/>
              </a:rPr>
              <a:t>For stakeholders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1"/>
          <p:cNvCxnSpPr/>
          <p:nvPr/>
        </p:nvCxnSpPr>
        <p:spPr>
          <a:xfrm>
            <a:off x="8207045" y="4403714"/>
            <a:ext cx="3490874" cy="0"/>
          </a:xfrm>
          <a:prstGeom prst="straightConnector1">
            <a:avLst/>
          </a:prstGeom>
          <a:noFill/>
          <a:ln cap="flat" cmpd="sng" w="9525">
            <a:solidFill>
              <a:srgbClr val="2A38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1"/>
          <p:cNvSpPr/>
          <p:nvPr/>
        </p:nvSpPr>
        <p:spPr>
          <a:xfrm>
            <a:off x="8225333" y="4509183"/>
            <a:ext cx="3454298" cy="666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"/>
          <p:cNvSpPr/>
          <p:nvPr/>
        </p:nvSpPr>
        <p:spPr>
          <a:xfrm>
            <a:off x="8225332" y="4518024"/>
            <a:ext cx="45719" cy="657479"/>
          </a:xfrm>
          <a:prstGeom prst="rect">
            <a:avLst/>
          </a:prstGeom>
          <a:solidFill>
            <a:srgbClr val="1F6F6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"/>
          <p:cNvSpPr/>
          <p:nvPr/>
        </p:nvSpPr>
        <p:spPr>
          <a:xfrm>
            <a:off x="8319948" y="4535170"/>
            <a:ext cx="336285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F6B"/>
              </a:buClr>
              <a:buSzPts val="700"/>
              <a:buFont typeface="Consolas"/>
              <a:buNone/>
            </a:pPr>
            <a:r>
              <a:rPr lang="en-US" sz="700">
                <a:solidFill>
                  <a:srgbClr val="1F6F6B"/>
                </a:solidFill>
                <a:latin typeface="Consolas"/>
                <a:ea typeface="Consolas"/>
                <a:cs typeface="Consolas"/>
                <a:sym typeface="Consolas"/>
              </a:rPr>
              <a:t>▸ FOR ACTUARY &amp; UNDERWRITER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"/>
          <p:cNvSpPr/>
          <p:nvPr/>
        </p:nvSpPr>
        <p:spPr>
          <a:xfrm>
            <a:off x="8371637" y="4705685"/>
            <a:ext cx="3362858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1F2D42"/>
              </a:buClr>
              <a:buSzPts val="850"/>
              <a:buFont typeface="Arial"/>
              <a:buChar char="•"/>
            </a:pPr>
            <a:r>
              <a:rPr lang="en-US" sz="85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Calibrated CS feeds Tweedie split: E[Loss] = Pr(Claim) × E[Loss|Claim]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1F2D42"/>
              </a:buClr>
              <a:buSzPts val="850"/>
              <a:buFont typeface="Arial"/>
              <a:buChar char="•"/>
            </a:pPr>
            <a:r>
              <a:rPr lang="en-US" sz="85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Two interpretable factors, one </a:t>
            </a:r>
            <a:r>
              <a:rPr lang="en-US" sz="85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premium</a:t>
            </a:r>
            <a:r>
              <a:rPr lang="en-US" sz="85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1F2D42"/>
              </a:buClr>
              <a:buSzPts val="850"/>
              <a:buFont typeface="Arial"/>
              <a:buChar char="•"/>
            </a:pPr>
            <a:r>
              <a:rPr lang="en-US" sz="85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Decile ranking enables tiered review on top 10–20%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8225333" y="5230368"/>
            <a:ext cx="3454200" cy="48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"/>
          <p:cNvSpPr/>
          <p:nvPr/>
        </p:nvSpPr>
        <p:spPr>
          <a:xfrm>
            <a:off x="8225333" y="5230368"/>
            <a:ext cx="36576" cy="489204"/>
          </a:xfrm>
          <a:prstGeom prst="rect">
            <a:avLst/>
          </a:prstGeom>
          <a:solidFill>
            <a:srgbClr val="C8531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"/>
          <p:cNvSpPr/>
          <p:nvPr/>
        </p:nvSpPr>
        <p:spPr>
          <a:xfrm>
            <a:off x="8316773" y="5276088"/>
            <a:ext cx="336285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31C"/>
              </a:buClr>
              <a:buSzPts val="700"/>
              <a:buFont typeface="Consolas"/>
              <a:buNone/>
            </a:pPr>
            <a:r>
              <a:rPr lang="en-US" sz="700">
                <a:solidFill>
                  <a:srgbClr val="C8531C"/>
                </a:solidFill>
                <a:latin typeface="Consolas"/>
                <a:ea typeface="Consolas"/>
                <a:cs typeface="Consolas"/>
                <a:sym typeface="Consolas"/>
              </a:rPr>
              <a:t>▸ LIMITS &amp; CAVEATS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"/>
          <p:cNvSpPr/>
          <p:nvPr/>
        </p:nvSpPr>
        <p:spPr>
          <a:xfrm>
            <a:off x="8371637" y="5415534"/>
            <a:ext cx="3362858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Auto-only data is </a:t>
            </a:r>
            <a:r>
              <a:rPr b="1" lang="en-US" sz="85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not transferable to life insurance </a:t>
            </a:r>
            <a:r>
              <a:rPr lang="en-US" sz="85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(different tails, longer horizons). Drift monitoring still required.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"/>
          <p:cNvSpPr/>
          <p:nvPr/>
        </p:nvSpPr>
        <p:spPr>
          <a:xfrm>
            <a:off x="8225333" y="5774436"/>
            <a:ext cx="3454298" cy="4892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"/>
          <p:cNvSpPr/>
          <p:nvPr/>
        </p:nvSpPr>
        <p:spPr>
          <a:xfrm>
            <a:off x="8225333" y="5774436"/>
            <a:ext cx="36576" cy="489204"/>
          </a:xfrm>
          <a:prstGeom prst="rect">
            <a:avLst/>
          </a:prstGeom>
          <a:solidFill>
            <a:srgbClr val="1F6F6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/>
          <p:nvPr/>
        </p:nvSpPr>
        <p:spPr>
          <a:xfrm>
            <a:off x="8316773" y="5820156"/>
            <a:ext cx="336285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F6B"/>
              </a:buClr>
              <a:buSzPts val="700"/>
              <a:buFont typeface="Consolas"/>
              <a:buNone/>
            </a:pPr>
            <a:r>
              <a:rPr lang="en-US" sz="700">
                <a:solidFill>
                  <a:srgbClr val="1F6F6B"/>
                </a:solidFill>
                <a:latin typeface="Consolas"/>
                <a:ea typeface="Consolas"/>
                <a:cs typeface="Consolas"/>
                <a:sym typeface="Consolas"/>
              </a:rPr>
              <a:t>▸ NEXT STEPS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"/>
          <p:cNvSpPr/>
          <p:nvPr/>
        </p:nvSpPr>
        <p:spPr>
          <a:xfrm>
            <a:off x="8371573" y="5934479"/>
            <a:ext cx="3363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42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Tweedie loss in NN head; fairness audit; per-segment re-calibration; SHAP reason codes for adverse-action notices.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1"/>
          <p:cNvCxnSpPr/>
          <p:nvPr/>
        </p:nvCxnSpPr>
        <p:spPr>
          <a:xfrm>
            <a:off x="365760" y="6400800"/>
            <a:ext cx="11460175" cy="0"/>
          </a:xfrm>
          <a:prstGeom prst="straightConnector1">
            <a:avLst/>
          </a:prstGeom>
          <a:noFill/>
          <a:ln cap="flat" cmpd="sng" w="9525">
            <a:solidFill>
              <a:srgbClr val="2A38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"/>
          <p:cNvSpPr/>
          <p:nvPr/>
        </p:nvSpPr>
        <p:spPr>
          <a:xfrm>
            <a:off x="457200" y="6090276"/>
            <a:ext cx="200074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99B"/>
              </a:buClr>
              <a:buSzPts val="600"/>
              <a:buFont typeface="Georgia"/>
              <a:buNone/>
            </a:pPr>
            <a:r>
              <a:rPr i="1" lang="en-US" sz="600">
                <a:solidFill>
                  <a:srgbClr val="B0A99B"/>
                </a:solidFill>
                <a:latin typeface="Georgia"/>
                <a:ea typeface="Georgia"/>
                <a:cs typeface="Georgia"/>
                <a:sym typeface="Georgia"/>
              </a:rPr>
              <a:t>Boosted trees + isotonic calibration delivered both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AA441"/>
              </a:buClr>
              <a:buSzPts val="600"/>
              <a:buFont typeface="Georgia"/>
              <a:buNone/>
            </a:pPr>
            <a:r>
              <a:rPr i="1" lang="en-US" sz="600">
                <a:solidFill>
                  <a:srgbClr val="DAA441"/>
                </a:solidFill>
                <a:latin typeface="Georgia"/>
                <a:ea typeface="Georgia"/>
                <a:cs typeface="Georgia"/>
                <a:sym typeface="Georgia"/>
              </a:rPr>
              <a:t>ranking quality </a:t>
            </a:r>
            <a:r>
              <a:rPr i="1" lang="en-US" sz="600">
                <a:solidFill>
                  <a:srgbClr val="B0A99B"/>
                </a:solidFill>
                <a:latin typeface="Georgia"/>
                <a:ea typeface="Georgia"/>
                <a:cs typeface="Georgia"/>
                <a:sym typeface="Georgia"/>
              </a:rPr>
              <a:t>and</a:t>
            </a:r>
            <a:r>
              <a:rPr i="1" lang="en-US" sz="6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i="1" lang="en-US" sz="600">
                <a:solidFill>
                  <a:srgbClr val="DAA441"/>
                </a:solidFill>
                <a:latin typeface="Georgia"/>
                <a:ea typeface="Georgia"/>
                <a:cs typeface="Georgia"/>
                <a:sym typeface="Georgia"/>
              </a:rPr>
              <a:t>probability honesty</a:t>
            </a:r>
            <a:endParaRPr i="1"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"/>
          <p:cNvSpPr/>
          <p:nvPr/>
        </p:nvSpPr>
        <p:spPr>
          <a:xfrm>
            <a:off x="2422093" y="4424551"/>
            <a:ext cx="338114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D9A441"/>
                </a:solidFill>
                <a:latin typeface="Consolas"/>
                <a:ea typeface="Consolas"/>
                <a:cs typeface="Consolas"/>
                <a:sym typeface="Consolas"/>
              </a:rPr>
              <a:t>TOP DRIVERS · SHAP SUMMARY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aph of different colored dots&#10;&#10;AI-generated content may be incorrect." id="193" name="Google Shape;1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0829" y="4595950"/>
            <a:ext cx="2080938" cy="140251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"/>
          <p:cNvSpPr/>
          <p:nvPr/>
        </p:nvSpPr>
        <p:spPr>
          <a:xfrm>
            <a:off x="2480620" y="5998463"/>
            <a:ext cx="1572478" cy="408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5F1E8"/>
                </a:solidFill>
                <a:latin typeface="Calibri"/>
                <a:ea typeface="Calibri"/>
                <a:cs typeface="Calibri"/>
                <a:sym typeface="Calibri"/>
              </a:rPr>
              <a:t>Tenure dominates risk while Exposure &amp; payment behavior raise risk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aph of a graph with a line&#10;&#10;AI-generated content may be incorrect." id="195" name="Google Shape;1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9781" y="4737798"/>
            <a:ext cx="2812438" cy="1109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48625" y="471125"/>
            <a:ext cx="1679401" cy="5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2026-05-07T05:09:10Z</dcterms:created>
  <dc:creator>PptxGenJS</dc:creator>
</cp:coreProperties>
</file>